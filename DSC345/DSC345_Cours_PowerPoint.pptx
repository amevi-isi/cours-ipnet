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charts/chart2.xml" ContentType="application/vnd.openxmlformats-officedocument.drawingml.chart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notesMasterIdLst>
    <p:notesMasterId r:id="rId7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Pondération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4572E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2A5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C98B1F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0FA3B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0B7A85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1B2A4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Interrogation (QCM)</c:v>
                </c:pt>
                <c:pt idx="1">
                  <c:v>Mi-parcours</c:v>
                </c:pt>
                <c:pt idx="2">
                  <c:v>Fin de parcours</c:v>
                </c:pt>
                <c:pt idx="3">
                  <c:v>Exposés</c:v>
                </c:pt>
                <c:pt idx="4">
                  <c:v>Travaux pratiques</c:v>
                </c:pt>
                <c:pt idx="5">
                  <c:v>Présentation des TP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</c:v>
                </c:pt>
                <c:pt idx="1">
                  <c:v>10</c:v>
                </c:pt>
                <c:pt idx="2">
                  <c:v>15</c:v>
                </c:pt>
                <c:pt idx="3">
                  <c:v>20</c:v>
                </c:pt>
                <c:pt idx="4">
                  <c:v>20</c:v>
                </c:pt>
                <c:pt idx="5">
                  <c:v>30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Exactitude</c:v>
                </c:pt>
              </c:strCache>
            </c:strRef>
          </c:tx>
          <c:spPr>
            <a:solidFill>
              <a:srgbClr val="0FA3B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AdaBoost</c:v>
                  </c:pt>
                  <c:pt idx="2">
                    <c:v>Gradient Boosting</c:v>
                  </c:pt>
                  <c:pt idx="3">
                    <c:v>HistGradientBoosting</c:v>
                  </c:pt>
                  <c:pt idx="4">
                    <c:v>Stacking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0.963</c:v>
                </c:pt>
                <c:pt idx="1">
                  <c:v>0.977</c:v>
                </c:pt>
                <c:pt idx="2">
                  <c:v>0.963</c:v>
                </c:pt>
                <c:pt idx="3">
                  <c:v>0.965</c:v>
                </c:pt>
                <c:pt idx="4">
                  <c:v>0.974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9"/>
          <c:min val="0.94"/>
        </c:scaling>
        <c:delete val="0"/>
        <c:axPos val="b"/>
        <c:majorGridlines>
          <c:spPr>
            <a:ln w="6350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du cours DSC 345 : 12 semaines, du cycle de vie d'un projet jusqu'à l'éthique et l'interprétabilité.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semaines 6 et 12 sont des examens. Les exposés de la semaine 11 portent sur les applications récentes.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Pondération du syllabus. L'interrogation est un QCM ; exposés et TP se font en petits groupes.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situer le ML dans la data science et comprendre les étapes d'un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Définition de Mitchell (1997) : un programme apprend si sa performance P sur la tâche T s'améliore avec l'expérience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critère de choix : nature de la variable cible, présence ou non d'étiquettes.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deux cultures se recoupent : la régression linéaire appartient aux deux. La différence est dans l'objectif : expliquer ou prédire.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cycle est itératif. 60 à 80 % du temps va à la collecte et à la préparation. La qualité des données prime sur la sophistication du modèle.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Démonstration en direct dans Jupyter. Faire varier 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Semaine de remise à niveau et de préparation des données.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Exemple : probabilité qu'un message soit un spam sachant qu'il contient un mot donné.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p-value faible ne mesure pas l'importance pratique d'un effet.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pas descend vers le minimum de la fonction de coût.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arbres n'ont pas besoin de mise à l'échelle.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Fuite de données : utiliser des informations du test pendant l'apprentissage.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L'EDA guide le choix des modèles : relations non linéaires, variables redondantes, transformation de la cible.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Calcul : x̄ = 3, ȳ = 4, somme des produits = 9, somme des carrés = 10. β₁ = 0,9 ; β₀ = 1,3.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R² d'apprentissage augmente mécaniquement avec le nombre de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la courbe : l'erreur d'apprentissage décroît toujours, celle de test remonte.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α = 0 redonne les moindres carrés ordinaires. Standardiser les variables avant de pénaliser.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 α augmente, les coefficients se rapprochent de zéro : Ridge les rétrécit, Lasso les annule un par 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deux modèles servent de base de comparaison pour les algorithmes de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L'arbre de profondeur 2 sur Iris isole setosa en un seul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: demander aux étudiants de calculer le gain pour un second découpage.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l'effet de k sur la frontière avec le jeu des lunes.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Exactitude trompeuse sur données déséquilibrées : 1 % de fraudes, prédire toujours « pas de fraude » donne 99 %.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bloc sert une fois de validation. On moyenne les 5 scores. Variante stratifiée pour conserver la proportion des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Jeu cancer du sein (scikit-learn).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Contrainte : yᵢ(wᵀxᵢ + b) ≥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: min ½‖w‖² + C Σ ξᵢ. C et γ se règlent conjointement par recherche sur grille.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Équivalent : décomposition en valeurs singulières de 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Jeu digits : 31 composantes suffisent pour 90 % de la variance sur 64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ACP : linéaire, rapide, variance globale. t-SNE : non linéaire, structure locale, visualisation uniquement.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Minimise l'inertie J = Σ ‖x − μₖ‖². Limites : K fixé, sensible à l'initialisation et aux valeurs aberrantes, groupes sphériques.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coude de l'inertie et le maximum de la silhouette convergent ici vers K =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 les lunes, K-means coupe en deux moitiés ; DBSCAN retrouve les deux croissants.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Hyperparamètres : n_estimators, max_depth, max_features, min_samples_leaf. Importance des variables disponible.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petit taux d'apprentissage avec beaucoup d'arbres généralise mieux ; arrêt précoce contre le sur-apprentissage. Alternatives : LightGBM, CatBoost, HistGradientBoosting.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prédictions des modèles de base sont obtenues par validation croisée pour éviter la fuite d'information.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Exactitude moyenne en validation croisée à 5 blocs (scikit-learn 1.9). Les écarts sont faibles : toujours confirmer par répétition de la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Cadre des exposés : problème, données, méthode, évaluation, résultats, limites.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général, ces définitions ne peuvent pas être satisfaites simultanément : l'arbitrage doit être explicité et documenté.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défaut de shap et lime : importance par permutation de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Conclusion du cours.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640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IPNET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188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DSC 345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21031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54864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donnée au modèle : apprendre, évaluer, expliquer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AYI AGBOLO  ·  Prérequis : DSC 341 ou CSC 380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du cours en 12 semaines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527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1353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et cycle de vie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560320" y="1280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70048" y="1527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67004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218688" y="1353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et préparation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280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73168" y="1527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7316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321808" y="1353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: fondements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766560" y="1280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76288" y="1527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76288" y="1527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24928" y="1353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: régularisation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2423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2670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6692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115568" y="2496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Arbres de décision et k-NN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560320" y="2423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670048" y="2670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7004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3218688" y="2496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de mi-parcours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663440" y="2423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773168" y="2670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77316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5321808" y="2496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766560" y="2423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76288" y="2670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76288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424928" y="2496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de dimensionnalité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457200" y="3566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6928" y="3813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692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1115568" y="3639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2560320" y="3566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670048" y="3813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67004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3218688" y="3639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d'ensemble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4663440" y="3566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773168" y="3813048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77316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5321808" y="3639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éthique, interprétabilité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6766560" y="3566160"/>
            <a:ext cx="1920240" cy="960120"/>
          </a:xfrm>
          <a:prstGeom prst="roundRect">
            <a:avLst>
              <a:gd name="adj" fmla="val 11429"/>
            </a:avLst>
          </a:prstGeom>
          <a:solidFill>
            <a:srgbClr val="FBE3BD"/>
          </a:solidFill>
          <a:ln w="12700">
            <a:solidFill>
              <a:srgbClr val="FBE3BD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76288" y="3813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876288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7424928" y="363931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 de l'apprentissage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18872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4754880" y="128016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754880" y="12801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5 %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60720" y="12801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(QCM)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754880" y="182880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760720" y="1828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de mi-parcours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0" y="237744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C98B1F"/>
          </a:solidFill>
          <a:ln w="12700">
            <a:solidFill>
              <a:srgbClr val="C98B1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2377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7607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de fin de parcours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754880" y="292608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754880" y="29260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576072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Exposés en petit groupe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754880" y="347472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0B7A85"/>
          </a:solidFill>
          <a:ln w="12700">
            <a:solidFill>
              <a:srgbClr val="0B7A8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754880" y="3474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5760720" y="34747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Travaux pratiques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4754880" y="4023360"/>
            <a:ext cx="822960" cy="411480"/>
          </a:xfrm>
          <a:prstGeom prst="roundRect">
            <a:avLst>
              <a:gd name="adj" fmla="val 17778"/>
            </a:avLst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54880" y="40233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30 %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576072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des TP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au Machine Learning et cycle de vie d'un projet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 ML  ·  Typologie des problèmes  ·  Cycle de vie  ·  Place dans la data science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Qu'est-ce que le Machine Learning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Tâche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l'on veut accomplir. Exemple : classer les messages en spam ou légitimes.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42900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Expérience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2900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d'apprentissage. Exemple : des messages déjà étiquetés par des utilisateurs.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26364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6364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mesure du succès. Exemple : la proportion de messages correctement classés.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familles d'apprentissage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Supervisé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contiennent la cible. Régression (valeur numérique) ou classification (catégorie).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supervisé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étiquette. Découvrir une structure : groupes, axes principaux.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renforcement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008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agit, reçoit des récompenses et apprend une politique. Jeux, robotique.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864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Semi-supervisé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données étiquetées, beaucoup de données brutes. Annotation partielle.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Learning, statistiques et IA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artificielle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le plus large : reproduire des comportements intelligents. Le ML en est un sous-domaine.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7472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à partir de données. Objectif : la performance prédictive sur des données nouvelles.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037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Statistiques classiques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0936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Inférer, tester, quantifier l'incertitude. Modèles plus simples et interprétables.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Cycle de vie d'un projet de 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219200" cy="292608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9248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24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103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Cadrage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" y="2926080"/>
            <a:ext cx="99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métier, cible, métrique de succès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859280" y="1371600"/>
            <a:ext cx="1219200" cy="292608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9456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945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950720" y="2240280"/>
            <a:ext cx="103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969008" y="2926080"/>
            <a:ext cx="99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qualité, droits d'usage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61360" y="1371600"/>
            <a:ext cx="1219200" cy="292608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59664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5966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352800" y="2240280"/>
            <a:ext cx="103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371088" y="2926080"/>
            <a:ext cx="99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nettoyage, variables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663440" y="1371600"/>
            <a:ext cx="1219200" cy="292608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9872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987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754880" y="2240280"/>
            <a:ext cx="103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Modélisation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73168" y="2926080"/>
            <a:ext cx="99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Algorithmes et réglages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065520" y="1371600"/>
            <a:ext cx="1219200" cy="292608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156960" y="2240280"/>
            <a:ext cx="103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Évaluation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175248" y="2926080"/>
            <a:ext cx="99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non vues, validation croisée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7467600" y="1371600"/>
            <a:ext cx="1219200" cy="2926080"/>
          </a:xfrm>
          <a:prstGeom prst="roundRect">
            <a:avLst>
              <a:gd name="adj" fmla="val 9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0288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8028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559040" y="2240280"/>
            <a:ext cx="103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Déploiement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577328" y="2926080"/>
            <a:ext cx="999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production, suivi de la dérive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Premier modèle avec scikit-learn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load_iris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accuracy_score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load_iris(return_X_y=True)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random_state=42,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stratify=y)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KNeighborsClassifier(n_neighbors=5)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model.fit(Xtr, ytr)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print(accuracy_score(yte, model.predict(Xte)))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26480" y="128016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apprentissage et test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l'apprentissage seulement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des données non vues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 : k = 5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Rappels statistiques et préparation des données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Probabilités et tests  ·  Optimisation  ·  Prétraitement  ·  Analyse exploratoire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Probabilités et théorème de Bayes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P(A|B) = P(A∩B) / P(B)       P(A|B) = P(B|A)·P(A) / P(B)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Espérance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moyenne théorique.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dispersion autour de l'espérance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normale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erreurs de la régression, standardisation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Bernoulli, binomiale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cible binaire.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comptages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 : mettre à jour une croyance à partir d'une observation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Estimation et tests d'hypothèses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Maximum de vraisemblance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les paramètres qui rendent les données observées les plus probables.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 nulle H₀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7472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 confronte aux données. Si la p-value est inférieure à α (souvent 0,05), on rejette H₀.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037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usuels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0936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de Student (moyennes), χ² (variables catégorielles), ANOVA (plusieurs moyennes).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Descente de gradient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une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de coût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J(θ)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: θ ← θ − η · ∇J(θ)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trop grand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divergence.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trop petit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lenteur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: batch, stochastique,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mini-lots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Standardiser les variables accélère la convergence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46320" y="128016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gd.png">    </p:cNvPr>
          <p:cNvPicPr>
            <a:picLocks noChangeAspect="1"/>
          </p:cNvPicPr>
          <p:nvPr/>
        </p:nvPicPr>
        <p:blipFill>
          <a:blip r:embed="rId1"/>
          <a:srcRect l="-10606" r="-10606" t="0" b="0"/>
          <a:stretch/>
        </p:blipFill>
        <p:spPr>
          <a:xfrm>
            <a:off x="4937760" y="1371600"/>
            <a:ext cx="3657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Prétraitement des 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manquantes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Suppression, imputation par la médiane ou le mode, imputation par k-NN. Indicateur d'absence si informatif.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Encodage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pour les variables nominales, encodage ordinal pour les catégories ordonnées.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à l'échelle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008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z = (x − μ) / σ ou min-max. Indispensable pour k-NN, SVM, K-means, ACP.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864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aberrantes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l'IQR ou z-score. Corriger si erreur de saisie, conserver si réelle.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Éviter la fuite de 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(OneHotEncoder,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StandardScaler)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Pipeline([("imp", SimpleImputer(strategy="median")),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("sc", StandardScaler())])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Pipeline([("imp", SimpleImputer(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strategy="most_frequent")),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("oh", OneHotEncoder(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handle_unknown="ignore"))])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 = ColumnTransformer([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("num", num, ["age", "revenu"]),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("cat", cat, ["region", "profession"])])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26480" y="128016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calculer μ et σ sur l'apprentissage uniquement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`Pipeline` garantit l'absence de fuite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transformation pour le test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exploratoire (EDA)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499616" cy="2926080"/>
          </a:xfrm>
          <a:prstGeom prst="roundRect">
            <a:avLst>
              <a:gd name="adj" fmla="val 73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32688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32688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Dimensions, types, statistiques descriptives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139696" y="1371600"/>
            <a:ext cx="1499616" cy="2926080"/>
          </a:xfrm>
          <a:prstGeom prst="roundRect">
            <a:avLst>
              <a:gd name="adj" fmla="val 73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15184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15184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231136" y="22402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249424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Histogrammes, déséquilibre de la cible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822192" y="1371600"/>
            <a:ext cx="1499616" cy="2926080"/>
          </a:xfrm>
          <a:prstGeom prst="roundRect">
            <a:avLst>
              <a:gd name="adj" fmla="val 73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3913632" y="22402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931920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Corrélations, nuages de points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504688" y="1371600"/>
            <a:ext cx="1499616" cy="2926080"/>
          </a:xfrm>
          <a:prstGeom prst="roundRect">
            <a:avLst>
              <a:gd name="adj" fmla="val 73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980176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80176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5596128" y="22402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Anomalies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614416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Doublons, incohérences, extrêmes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7187184" y="1371600"/>
            <a:ext cx="1499616" cy="2926080"/>
          </a:xfrm>
          <a:prstGeom prst="roundRect">
            <a:avLst>
              <a:gd name="adj" fmla="val 7317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662672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62672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7278624" y="22402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7296912" y="29260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des modèles et transformations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supervisée – Fondements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linéaire  ·  Hypothèses  ·  MSE, RMSE, R²  ·  Sur- et sous-apprentissage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linéaire par moindres carrés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β₀ + β₁x₁ + … + β_p x_p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Minimiser la somme des carrés des résidus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 = (XᵀX)⁻¹ Xᵀ y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5 points →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= 1,3 + 0,9x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βⱼ : variation de y quand xⱼ augmente de 1,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variables restant constantes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46320" y="128016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linreg.png">    </p:cNvPr>
          <p:cNvPicPr>
            <a:picLocks noChangeAspect="1"/>
          </p:cNvPicPr>
          <p:nvPr/>
        </p:nvPicPr>
        <p:blipFill>
          <a:blip r:embed="rId1"/>
          <a:srcRect l="-10606" r="-10606" t="0" b="0"/>
          <a:stretch/>
        </p:blipFill>
        <p:spPr>
          <a:xfrm>
            <a:off x="4937760" y="1371600"/>
            <a:ext cx="36576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Hypothèses du modèle linéaire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74320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Hypothèse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Remède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Linéarité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Graphe des résidus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les variables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Indépendance des erreurs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Durbin-Watson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aux séries temporelles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Homoscédasticité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Résidus vs prédictions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 la cible (log)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Normalité des erreurs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QQ-plot, Shapiro-Wilk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Utile pour tests et intervalles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de multicolinéarité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Corrélations, VIF &gt; 5-10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Retirer ou régulariser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Évaluer un modèle de régression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851660" cy="2743200"/>
          </a:xfrm>
          <a:prstGeom prst="roundRect">
            <a:avLst>
              <a:gd name="adj" fmla="val 592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54480"/>
            <a:ext cx="1851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 quadratique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carrés des écarts. Pénalise fortement les grosses erreurs.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83180" y="1371600"/>
            <a:ext cx="1851660" cy="2743200"/>
          </a:xfrm>
          <a:prstGeom prst="roundRect">
            <a:avLst>
              <a:gd name="adj" fmla="val 592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83180" y="1554480"/>
            <a:ext cx="1851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RMSE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2720340" y="256032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Racine de la MSE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720340" y="30175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l'unité de la cible : lecture directe de l'erreur typique.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09160" y="1371600"/>
            <a:ext cx="1851660" cy="2743200"/>
          </a:xfrm>
          <a:prstGeom prst="roundRect">
            <a:avLst>
              <a:gd name="adj" fmla="val 592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9160" y="1554480"/>
            <a:ext cx="1851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MAE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4846320" y="256032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Erreur absolue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46320" y="30175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sensible aux valeurs extrêmes.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35140" y="1371600"/>
            <a:ext cx="1851660" cy="2743200"/>
          </a:xfrm>
          <a:prstGeom prst="roundRect">
            <a:avLst>
              <a:gd name="adj" fmla="val 592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35140" y="1554480"/>
            <a:ext cx="18516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R²</a:t>
            </a:r>
            <a:endParaRPr lang="en-US" sz="4000" dirty="0"/>
          </a:p>
        </p:txBody>
      </p:sp>
      <p:sp>
        <p:nvSpPr>
          <p:cNvPr id="20" name="Text 17"/>
          <p:cNvSpPr/>
          <p:nvPr/>
        </p:nvSpPr>
        <p:spPr>
          <a:xfrm>
            <a:off x="6972300" y="2560320"/>
            <a:ext cx="15773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expliquée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972300" y="3017520"/>
            <a:ext cx="15773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1 − RSS/TSS. À mesurer sur le jeu de test.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Sur-apprentissage et sous-apprentissage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Sous-apprentissage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modèle trop simple, erreur élevée partout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Sur-apprentissage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modèle mémorise le bruit, erreur de test élevée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attendue =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biais² + variance + bruit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Remèdes : plus de données, régularisation, modèle plus simple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overfit.png">    </p:cNvPr>
          <p:cNvPicPr>
            <a:picLocks noChangeAspect="1"/>
          </p:cNvPicPr>
          <p:nvPr/>
        </p:nvPicPr>
        <p:blipFill>
          <a:blip r:embed="rId1"/>
          <a:srcRect l="-13636" r="-13636" t="0" b="0"/>
          <a:stretch/>
        </p:blipFill>
        <p:spPr>
          <a:xfrm>
            <a:off x="4754880" y="1371600"/>
            <a:ext cx="3840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 : polynômes et sur-apprentissage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sklearn.datasets import load_diabetes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LinearRegression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train_test_split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r2_score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PolynomialFeatures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make_pipeline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 = load_diabetes(return_X_y=True)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Xtr, Xte, ytr, yte = train_test_split(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X, y, test_size=0.2, random_state=0)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deg in (1, 2, 3):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make_pipeline(PolynomialFeatures(deg),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LinearRegression()).fit(Xtr, ytr)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print(deg, r2_score(ytr, m.predict(Xtr)),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r2_score(yte, m.predict(Xte)))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28016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Degré 1 : R² test ≈ 0,33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Degré 3 : R² apprentissage ≈ 0,88 mais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 négatif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du sur-apprentissage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supervisée – Régularisation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Multicolinéarité  ·  Ridge, Lasso, Elastic Net  ·  Choix de α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Ridge, Lasso et Elastic Net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(L2)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RSS + α Σ βⱼ²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Rétrécit les coefficients sans les annuler. Idéal avec des variables corrélées.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9184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Lasso (L1)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7472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RSS + α Σ |βⱼ|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Annule certains coefficients : sélection de variables automatique.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126480" y="12801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0936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037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 Net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309360" y="2057400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Mélange L1 et L2 (paramètre ρ).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Parcimonie du Lasso et stabilité du Ridge.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Chemin de régularisation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figs/regpath.png">    </p:cNvPr>
          <p:cNvPicPr>
            <a:picLocks noChangeAspect="1"/>
          </p:cNvPicPr>
          <p:nvPr/>
        </p:nvPicPr>
        <p:blipFill>
          <a:blip r:embed="rId1"/>
          <a:srcRect l="-91935" r="-91935" t="0" b="0"/>
          <a:stretch/>
        </p:blipFill>
        <p:spPr>
          <a:xfrm>
            <a:off x="548640" y="1280160"/>
            <a:ext cx="8046720" cy="2834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α augmente, Ridge rétrécit tous les coefficients ; Lasso en annule certains exactement.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une méthode de régularisation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920240"/>
                <a:gridCol w="1920240"/>
                <a:gridCol w="201168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Net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Effet sur les coefficients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Rétrécit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Annule certains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Rétrécit et annule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Sélection de variables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 corrélées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bon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 favorable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Nombreux petits effets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 de variables utiles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Groupes corrélés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Hyperparamètres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et ρ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régularisée avec validation croisée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sklearn.linear_model import (RidgeCV, LassoCV,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ElasticNetCV)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make_pipeline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cross_val_score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alphas = np.logspace(-3, 2, 50)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modeles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"Ridge": make_pipeline(StandardScaler(),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RidgeCV(alphas=alphas)),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"Lasso": make_pipeline(StandardScaler(),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LassoCV(alphas=alphas)),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nom, m in modeles.items():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print(nom, cross_val_score(m, X, y, cv=5,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scoring="r2").mean())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0" y="128016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choisi par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`StandardScaler`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pénalité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à la régression ordinaire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supervisée – Arbres de décision et k-NN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et LDA  ·  Arbres de décision  ·  k-NN  ·  Métriques de classification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classifieurs de référence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201168" cy="2011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P(y=1|x) = σ(β₀ + Σ βⱼxⱼ)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2468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sur le log-odds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Estimée par maximum de vraisemblance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exp(βⱼ) : facteur sur la cote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de décision ajustable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1463040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5780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discriminante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49377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LDA : covariance commune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937760" y="2468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classe modélisée par une loi normale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 : frontière linéaire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 : frontière quadratique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 avec peu de données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Arbres de décision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simples enchaînées : chaque nœud teste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glouton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on maximise la pureté des sous-groupes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: `max_depth`, `min_samples_leaf`, élagage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Atouts 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Interprétable, sans mise à l'échelle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 variance, tendance au sur-apprentissage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80560" y="1280160"/>
            <a:ext cx="42062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tree.png">    </p:cNvPr>
          <p:cNvPicPr>
            <a:picLocks noChangeAspect="1"/>
          </p:cNvPicPr>
          <p:nvPr/>
        </p:nvPicPr>
        <p:blipFill>
          <a:blip r:embed="rId1"/>
          <a:srcRect l="-16667" r="-16667" t="0" b="0"/>
          <a:stretch/>
        </p:blipFill>
        <p:spPr>
          <a:xfrm>
            <a:off x="4572000" y="1371600"/>
            <a:ext cx="40233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de découpage : Gini et entropie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Gini = 1 − Σ pₖ²           Entropie = − Σ pₖ log₂ pₖ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Nœud : 6 observations A, 4 observations B →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= 0,48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Gauche (5 A, 1 B) : 0,278. Droite (1 A, 3 B) : 0,375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pondéré = 0,6 × 0,278 + 0,4 × 0,375 ≈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0,317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0,48 − 0,317 ≈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0,163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plus proches voisins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Classer selon la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majorité des k voisins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plus proches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petit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frontière irrégulière, variance élevée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grand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frontière lissée, risque de sous-apprentissage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k par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l'échelle obligatoire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; sensible à la dimension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931920" y="1280160"/>
            <a:ext cx="47548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knn.png">    </p:cNvPr>
          <p:cNvPicPr>
            <a:picLocks noChangeAspect="1"/>
          </p:cNvPicPr>
          <p:nvPr/>
        </p:nvPicPr>
        <p:blipFill>
          <a:blip r:embed="rId1"/>
          <a:srcRect l="-39286" r="-39286" t="0" b="0"/>
          <a:stretch/>
        </p:blipFill>
        <p:spPr>
          <a:xfrm>
            <a:off x="4023360" y="1371600"/>
            <a:ext cx="45720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de confusion et métriques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01168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+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0" y="12344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−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+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3017520"/>
            <a:ext cx="1463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 −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011680" y="1600200"/>
            <a:ext cx="1554480" cy="1325880"/>
          </a:xfrm>
          <a:prstGeom prst="roundRect">
            <a:avLst>
              <a:gd name="adj" fmla="val 6897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16002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Vrais positifs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3657600" y="1600200"/>
            <a:ext cx="1554480" cy="1325880"/>
          </a:xfrm>
          <a:prstGeom prst="roundRect">
            <a:avLst>
              <a:gd name="adj" fmla="val 6897"/>
            </a:avLst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0" y="16002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Faux négatifs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2011680" y="3017520"/>
            <a:ext cx="1554480" cy="1325880"/>
          </a:xfrm>
          <a:prstGeom prst="roundRect">
            <a:avLst>
              <a:gd name="adj" fmla="val 689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0" y="301752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Faux positifs</a:t>
            </a:r>
            <a:endParaRPr lang="en-US" sz="2600" dirty="0"/>
          </a:p>
        </p:txBody>
      </p:sp>
      <p:sp>
        <p:nvSpPr>
          <p:cNvPr id="16" name="Shape 13"/>
          <p:cNvSpPr/>
          <p:nvPr/>
        </p:nvSpPr>
        <p:spPr>
          <a:xfrm>
            <a:off x="3657600" y="3017520"/>
            <a:ext cx="1554480" cy="1325880"/>
          </a:xfrm>
          <a:prstGeom prst="roundRect">
            <a:avLst>
              <a:gd name="adj" fmla="val 6897"/>
            </a:avLst>
          </a:prstGeom>
          <a:solidFill>
            <a:srgbClr val="0B7A85"/>
          </a:solidFill>
          <a:ln w="12700">
            <a:solidFill>
              <a:srgbClr val="0B7A8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301752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Vrais négatifs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5486400" y="1325880"/>
            <a:ext cx="3200400" cy="640080"/>
          </a:xfrm>
          <a:prstGeom prst="roundRect">
            <a:avLst>
              <a:gd name="adj" fmla="val 1714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23560" y="132588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Précision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76656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VP / (VP + FP)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0" y="2075688"/>
            <a:ext cx="3200400" cy="640080"/>
          </a:xfrm>
          <a:prstGeom prst="roundRect">
            <a:avLst>
              <a:gd name="adj" fmla="val 1714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23560" y="207568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Rappel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6766560" y="207568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VP / (VP + FN)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0" y="2825496"/>
            <a:ext cx="3200400" cy="640080"/>
          </a:xfrm>
          <a:prstGeom prst="roundRect">
            <a:avLst>
              <a:gd name="adj" fmla="val 1714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23560" y="282549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766560" y="28254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2·P·R / (P + R)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0" y="3575304"/>
            <a:ext cx="3200400" cy="640080"/>
          </a:xfrm>
          <a:prstGeom prst="roundRect">
            <a:avLst>
              <a:gd name="adj" fmla="val 1714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23560" y="3575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Exactitude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766560" y="357530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(VP + VN) / total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Comparer un arbre et un k-NN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101826"/>
          </a:solidFill>
          <a:ln w="12700">
            <a:solidFill>
              <a:srgbClr val="1018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GridSearchCV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sklearn.neighbors import KNeighborsClassifier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make_pipeline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classification_report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arbre = GridSearchCV(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DecisionTreeClassifier(random_state=1),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{"max_depth": [2, 3, 4, 5, None],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"min_samples_leaf": [1, 5, 10]}, cv=5).fit(Xtr, ytr)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knn = GridSearchCV(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make_pipeline(StandardScaler(),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KNeighborsClassifier()),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{"kneighborsclassifier__n_neighbors":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range(1, 21, 2)}, cv=5).fit(Xtr, ytr)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print(classification_report(yte, knn.predict(Xte)))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26480" y="1280160"/>
            <a:ext cx="2560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sur grille +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croisée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k-NN 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dans le pipeline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précision, rappel, F1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Examen de mi-parcours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1 à 5  ·  Validation et métriques  ·  Biais-variance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Contenus évalués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Fondements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au ML, cycle de vie, rappels statistiques et préparation des données.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Linéaire, régularisation (Ridge, Lasso, Elastic Net), métriques MSE, RMSE, R².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Arbres de décision, k-NN, matrice de confusion, précision, rappel, F1.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Train/test, validation croisée, compromis biais-variance, fuite de données.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croisée à 5 blocs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3258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1371600" y="132588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0" y="132588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331720" y="132588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31720" y="132588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91840" y="132588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91840" y="132588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251960" y="132588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51960" y="132588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212080" y="132588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12080" y="132588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371600" y="182880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71600" y="182880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331720" y="182880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31720" y="182880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291840" y="182880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91840" y="182880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251960" y="182880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251960" y="182880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12080" y="182880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12080" y="182880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3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371600" y="233172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371600" y="23317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331720" y="233172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331720" y="23317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291840" y="233172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91840" y="23317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251960" y="233172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251960" y="23317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5212080" y="233172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212080" y="233172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57200" y="28346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4</a:t>
            </a:r>
            <a:endParaRPr lang="en-US" sz="1300" dirty="0"/>
          </a:p>
        </p:txBody>
      </p:sp>
      <p:sp>
        <p:nvSpPr>
          <p:cNvPr id="40" name="Shape 37"/>
          <p:cNvSpPr/>
          <p:nvPr/>
        </p:nvSpPr>
        <p:spPr>
          <a:xfrm>
            <a:off x="1371600" y="283464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371600" y="283464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331720" y="283464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2331720" y="283464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291840" y="283464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291840" y="283464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251960" y="283464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251960" y="283464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5212080" y="283464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12080" y="283464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57200" y="33375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 5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1371600" y="333756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71600" y="333756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2331720" y="333756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331720" y="333756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291840" y="333756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291840" y="333756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4251960" y="333756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251960" y="333756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</a:t>
            </a:r>
            <a:endParaRPr lang="en-US" sz="1000" dirty="0"/>
          </a:p>
        </p:txBody>
      </p:sp>
      <p:sp>
        <p:nvSpPr>
          <p:cNvPr id="59" name="Shape 56"/>
          <p:cNvSpPr/>
          <p:nvPr/>
        </p:nvSpPr>
        <p:spPr>
          <a:xfrm>
            <a:off x="5212080" y="3337560"/>
            <a:ext cx="896112" cy="41148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212080" y="3337560"/>
            <a:ext cx="896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61" name="Text 58"/>
          <p:cNvSpPr/>
          <p:nvPr/>
        </p:nvSpPr>
        <p:spPr>
          <a:xfrm>
            <a:off x="6400800" y="1325880"/>
            <a:ext cx="2286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final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moyenne des 5 scores de validation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test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reste intact : utilisé une seule fois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courantes : k = 5 ou 10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Courbe ROC et AUC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vrais positifs en fonction du taux de faux positifs, pour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seuils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0,5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modèle aléatoire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1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modèle parfait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les modèles indépendamment du seuil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480560" y="1280160"/>
            <a:ext cx="42062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roc.png">    </p:cNvPr>
          <p:cNvPicPr>
            <a:picLocks noChangeAspect="1"/>
          </p:cNvPicPr>
          <p:nvPr/>
        </p:nvPicPr>
        <p:blipFill>
          <a:blip r:embed="rId1"/>
          <a:srcRect l="-12857" r="-12857" t="0" b="0"/>
          <a:stretch/>
        </p:blipFill>
        <p:spPr>
          <a:xfrm>
            <a:off x="4572000" y="1371600"/>
            <a:ext cx="402336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7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supervisée – SVM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maximale  ·  Marge souple  ·  Noyaux  ·  Multiclasse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 maximale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l'hyperplan qui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la marge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de support</a:t>
            </a: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(cerclés) déterminent seuls la solution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=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‖w‖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convexe : solution unique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svm.png">    </p:cNvPr>
          <p:cNvPicPr>
            <a:picLocks noChangeAspect="1"/>
          </p:cNvPicPr>
          <p:nvPr/>
        </p:nvPicPr>
        <p:blipFill>
          <a:blip r:embed="rId1"/>
          <a:srcRect l="-13636" r="-13636" t="0" b="0"/>
          <a:stretch/>
        </p:blipFill>
        <p:spPr>
          <a:xfrm>
            <a:off x="4754880" y="1371600"/>
            <a:ext cx="3840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Marge souple et paramètre 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201168" cy="2011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grand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de violations de marge tolérées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étroite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sur-apprentissage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463040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petit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93776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violations tolérées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large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de sous-apprentissage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L'astuce du noyau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Projeter dans un espace où les classes deviennent séparables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des produits scalaires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projection explicite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γ élevé → frontières locales, sur-apprentissage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Régler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et γ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validation croisée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31920" y="1280160"/>
            <a:ext cx="47548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figs/kernel.png">    </p:cNvPr>
          <p:cNvPicPr>
            <a:picLocks noChangeAspect="1"/>
          </p:cNvPicPr>
          <p:nvPr/>
        </p:nvPicPr>
        <p:blipFill>
          <a:blip r:embed="rId1"/>
          <a:srcRect l="-39286" r="-39286" t="0" b="0"/>
          <a:stretch/>
        </p:blipFill>
        <p:spPr>
          <a:xfrm>
            <a:off x="4023360" y="1371600"/>
            <a:ext cx="45720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Noyaux usuels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10896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Noyau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Linéaire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xᵀx'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 dimension, texte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(γ xᵀx' + r)^d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Interactions entre variables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Gaussien (RBF)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exp(−γ ‖x − x'‖²)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 par défaut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Sigmoïde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tanh(γ xᵀx' + 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Rarement utilisé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 multiclasse, avantages et limites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201168" cy="2011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Stratégies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contre un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K(K−1)/2 modèles, vote (SVC)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contre tous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K modèles, score maximal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l'échelle indispensable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463040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Atouts 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Efficace en grande dimension, bonne généralisation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Lent au-delà de quelques dizaines de milliers de lignes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Peu interprétable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Apprentissage non supervisé – Réduction de dimensionnalité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 ·  t-SNE  ·  UMAP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réduire la dimension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Représenter des données de grande dimension en 2D ou 3D.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 les algorithmes, réduire le stockage.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Débruiter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les directions informatives.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Éviter la malédiction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grande dimension, les données sont éparses et les distances perdent leur sens.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en composantes principales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Centrer et réduire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6692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à moyenne nulle et variance 1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6032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65176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Covariance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7004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XᵀX / (n − 1)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6344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924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5488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Valeurs propres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77316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λ₁ ≥ λ₂ ≥ … et vecteurs propres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6656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85800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87628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q composantes : Z = X W_q</a:t>
            </a:r>
            <a:endParaRPr lang="en-US" sz="1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le nombre de composantes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de variance 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λⱼ / Σ λₖ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cumulatif :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à 95 %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du coude sur l'éboulis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saturations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nomment les axes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obligatoire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scree.png">    </p:cNvPr>
          <p:cNvPicPr>
            <a:picLocks noChangeAspect="1"/>
          </p:cNvPicPr>
          <p:nvPr/>
        </p:nvPicPr>
        <p:blipFill>
          <a:blip r:embed="rId1"/>
          <a:srcRect l="-13636" r="-13636" t="0" b="0"/>
          <a:stretch/>
        </p:blipFill>
        <p:spPr>
          <a:xfrm>
            <a:off x="4754880" y="1371600"/>
            <a:ext cx="3840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 et t-SNE sur les chiffres manuscrits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figs/pca_tsne.png">    </p:cNvPr>
          <p:cNvPicPr>
            <a:picLocks noChangeAspect="1"/>
          </p:cNvPicPr>
          <p:nvPr/>
        </p:nvPicPr>
        <p:blipFill>
          <a:blip r:embed="rId1"/>
          <a:srcRect l="-91935" r="-91935" t="0" b="0"/>
          <a:stretch/>
        </p:blipFill>
        <p:spPr>
          <a:xfrm>
            <a:off x="548640" y="1280160"/>
            <a:ext cx="8046720" cy="2834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t-SNE sépare mieux les classes ; les distances entre amas n'y sont pas interprétables.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ACP, t-SNE et UMAP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graphicFrame>
        <p:nvGraphicFramePr>
          <p:cNvPr id="5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011680"/>
                <a:gridCol w="2011680"/>
                <a:gridCol w="201168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Linéaire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linéaire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linéaire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préservée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globale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Voisinage local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Locale et globale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Rapidité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rapide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Nouvelles données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Compression, prétraitement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Visualisation, prétraitement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9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Apprentissage non supervisé – Clustering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 ·  DBSCAN  ·  Clustering hiérarchique  ·  Évaluation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Initialiser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centres (k-means++)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56032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461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65176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Affecter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7004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point au centre le plus proche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6344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4924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492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5488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Recalculer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77316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centre = moyenne de son groupe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766560" y="1371600"/>
            <a:ext cx="1920240" cy="2926080"/>
          </a:xfrm>
          <a:prstGeom prst="roundRect">
            <a:avLst>
              <a:gd name="adj" fmla="val 571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5236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52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858000" y="224028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Répéter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876288" y="2926080"/>
            <a:ext cx="17007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 stabilisation</a:t>
            </a:r>
            <a:endParaRPr lang="en-US" sz="1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K : coude et silhouette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82296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figs/elbow.png">    </p:cNvPr>
          <p:cNvPicPr>
            <a:picLocks noChangeAspect="1"/>
          </p:cNvPicPr>
          <p:nvPr/>
        </p:nvPicPr>
        <p:blipFill>
          <a:blip r:embed="rId1"/>
          <a:srcRect l="-96667" r="-96667" t="0" b="0"/>
          <a:stretch/>
        </p:blipFill>
        <p:spPr>
          <a:xfrm>
            <a:off x="548640" y="1280160"/>
            <a:ext cx="8046720" cy="274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 = (b − a) / max(a, b) : proche de 1, groupes bien séparés. Ici K = 4.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DBSCAN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2801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=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 dense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séparée par des régions peu denses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: rayon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cœur, frontière,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bruit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(−1)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Atouts 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Formes libres, nombre de groupes automatique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Sensible à ε, densités variables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931920" y="1280160"/>
            <a:ext cx="47548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Image 0" descr="figs/cluster.png">    </p:cNvPr>
          <p:cNvPicPr>
            <a:picLocks noChangeAspect="1"/>
          </p:cNvPicPr>
          <p:nvPr/>
        </p:nvPicPr>
        <p:blipFill>
          <a:blip r:embed="rId1"/>
          <a:srcRect l="-39286" r="-39286" t="0" b="0"/>
          <a:stretch/>
        </p:blipFill>
        <p:spPr>
          <a:xfrm>
            <a:off x="4023360" y="1371600"/>
            <a:ext cx="45720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 hiérarchique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successive des groupes les plus proches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un </a:t>
            </a: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dendrogramme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l'on coupe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</a:t>
            </a: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minimise l'augmentation d'inertie (le plus courant)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: chaînage. Complete : groupes compacts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au moins quadratique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128016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5DDE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figs/dendro.png">    </p:cNvPr>
          <p:cNvPicPr>
            <a:picLocks noChangeAspect="1"/>
          </p:cNvPicPr>
          <p:nvPr/>
        </p:nvPicPr>
        <p:blipFill>
          <a:blip r:embed="rId1"/>
          <a:srcRect l="-13636" r="-13636" t="0" b="0"/>
          <a:stretch/>
        </p:blipFill>
        <p:spPr>
          <a:xfrm>
            <a:off x="4754880" y="1371600"/>
            <a:ext cx="38404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Choisir une technique de clustering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37744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de vigilance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Groupes sphériques, K connu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Standardiser, plusieurs initialisations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Formes libres, bruit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DBSCAN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 de ε (graphe des k-distances)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emboîtée, petits volumes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Hiérarchique (Ward)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Coût quadratique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Évaluer sans étiquettes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Silhouette, Davies-Bouldin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Valider aussi par le métier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 d'ensemble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et forêts aléatoires  ·  Boosting  ·  Stacking</a:t>
            </a:r>
            <a:endParaRPr lang="en-US" sz="14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combiner des modèles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Var(moyenne) = ρσ² + (1 − ρ) σ² / 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modèles de variance σ², de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moyenne ρ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les erreurs sont peu corrélées, plus la variance baisse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faut des modèles </a:t>
            </a:r>
            <a:r>
              <a:rPr lang="en-US" sz="16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 et diversifiés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: réduit la variance. Boosting : réduit le biais.</a:t>
            </a:r>
            <a:endParaRPr lang="en-US" sz="16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et forêts aléatoires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63 %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Observations distinctes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échantillon bootstrap contient environ 63 % d'observations distinctes.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37 %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42900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Out-of-bag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2900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observations laissées de côté estiment l'erreur sans jeu de validation.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√p</a:t>
            </a:r>
            <a:endParaRPr lang="en-US" sz="4000" dirty="0"/>
          </a:p>
        </p:txBody>
      </p:sp>
      <p:sp>
        <p:nvSpPr>
          <p:cNvPr id="16" name="Text 13"/>
          <p:cNvSpPr/>
          <p:nvPr/>
        </p:nvSpPr>
        <p:spPr>
          <a:xfrm>
            <a:off x="626364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par découpage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6364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forêt aléatoire tire un sous-ensemble de variables à chaque nœud.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21280" cy="2926080"/>
          </a:xfrm>
          <a:prstGeom prst="roundRect">
            <a:avLst>
              <a:gd name="adj" fmla="val 41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9352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4935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2240280"/>
            <a:ext cx="243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66928" y="2926080"/>
            <a:ext cx="2401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accrus sur les erreurs ; vote pondéré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61360" y="1371600"/>
            <a:ext cx="2621280" cy="2926080"/>
          </a:xfrm>
          <a:prstGeom prst="roundRect">
            <a:avLst>
              <a:gd name="adj" fmla="val 41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768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352800" y="2240280"/>
            <a:ext cx="243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371088" y="2926080"/>
            <a:ext cx="2401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arbre prédit les résidus : F_m = F_{m−1} + η·h_m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65520" y="1371600"/>
            <a:ext cx="2621280" cy="2926080"/>
          </a:xfrm>
          <a:prstGeom prst="roundRect">
            <a:avLst>
              <a:gd name="adj" fmla="val 41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101840" y="15544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0184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56960" y="2240280"/>
            <a:ext cx="243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75248" y="2926080"/>
            <a:ext cx="2401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Régularisation, valeurs manquantes, parallélisation</a:t>
            </a:r>
            <a:endParaRPr lang="en-US" sz="14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Stacking : combiner des modèles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17520" y="1783080"/>
            <a:ext cx="914400" cy="96012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42316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42316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flipV="1">
            <a:off x="3017520" y="2743200"/>
            <a:ext cx="914400" cy="9144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" y="3474720"/>
            <a:ext cx="2560320" cy="822960"/>
          </a:xfrm>
          <a:prstGeom prst="roundRect">
            <a:avLst>
              <a:gd name="adj" fmla="val 1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34747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Forêt aléatoire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flipV="1">
            <a:off x="3017520" y="2743200"/>
            <a:ext cx="914400" cy="1143000"/>
          </a:xfrm>
          <a:prstGeom prst="line">
            <a:avLst/>
          </a:prstGeom>
          <a:noFill/>
          <a:ln w="19050">
            <a:solidFill>
              <a:srgbClr val="5C6B7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31920" y="2103120"/>
            <a:ext cx="2194560" cy="1280160"/>
          </a:xfrm>
          <a:prstGeom prst="roundRect">
            <a:avLst>
              <a:gd name="adj" fmla="val 8571"/>
            </a:avLst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31920" y="21031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Méta-modèle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126480" y="2743200"/>
            <a:ext cx="822960" cy="0"/>
          </a:xfrm>
          <a:prstGeom prst="line">
            <a:avLst/>
          </a:prstGeom>
          <a:noFill/>
          <a:ln w="25400">
            <a:solidFill>
              <a:srgbClr val="5C6B7A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949440" y="228600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49440" y="22860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Prédiction finale</a:t>
            </a:r>
            <a:endParaRPr lang="en-US" sz="14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sur le jeu cancer du sein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2344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3"/>
          <p:cNvSpPr/>
          <p:nvPr/>
        </p:nvSpPr>
        <p:spPr>
          <a:xfrm>
            <a:off x="5852160" y="1371600"/>
            <a:ext cx="2834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ensembles dépassent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96 %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Écarts de l'ordre du point :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significatifs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sans répétition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Choisir selon coût, lisibilité et besoin de réglage</a:t>
            </a:r>
            <a:endParaRPr lang="en-US" sz="14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récentes, éthique et interprétabilité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Exposés des groupes  ·  Biais et équité  ·  LIME et SHAP</a:t>
            </a:r>
            <a:endParaRPr 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récentes du ML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 autonome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4008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Perception, prédiction de trajectoires, planification. Enjeu : sécurité et robustesse.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Informatique biomédicale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Imagerie, risque, génomique. Enjeu : interprétabilité et données sensibles.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2344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Biométrie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008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Visage, empreinte, iris, voix. Enjeu : vie privée et précision inégale selon les groupes.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4864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 textes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Sentiments, extraction, langage. Enjeu : biais linguistiques, langues peu dotées.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D'où viennent les biais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Représentation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sous-représentés dans les données.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passées discriminatoires reproduites.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Mesure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cible ou indicateurs mal choisis.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Proxy et boucles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qui reconstituent un attribut sensible ; décisions qui modifient les données futures.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définitions de l'équité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9436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Parité démographique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9436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taux de décisions positives entre groupes.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5600" dirty="0"/>
          </a:p>
        </p:txBody>
      </p:sp>
      <p:sp>
        <p:nvSpPr>
          <p:cNvPr id="12" name="Text 9"/>
          <p:cNvSpPr/>
          <p:nvPr/>
        </p:nvSpPr>
        <p:spPr>
          <a:xfrm>
            <a:off x="342900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Égalité des chances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2900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taux de vrais positifs entre groupes.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1371600"/>
            <a:ext cx="2560320" cy="2926080"/>
          </a:xfrm>
          <a:prstGeom prst="roundRect">
            <a:avLst>
              <a:gd name="adj" fmla="val 4286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5600" dirty="0"/>
          </a:p>
        </p:txBody>
      </p:sp>
      <p:sp>
        <p:nvSpPr>
          <p:cNvPr id="16" name="Text 13"/>
          <p:cNvSpPr/>
          <p:nvPr/>
        </p:nvSpPr>
        <p:spPr>
          <a:xfrm>
            <a:off x="626364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63640" y="30175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probabilité de 0,7 signifie 70 % dans chaque groupe.</a:t>
            </a:r>
            <a:endParaRPr lang="en-US" sz="14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Interpréter une prédiction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463040"/>
            <a:ext cx="201168" cy="20116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Perturbe l'observation autour d'elle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un modèle linéaire local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</a:t>
            </a: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</a:t>
            </a: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rapide, approximative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1463040"/>
            <a:ext cx="201168" cy="201168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57800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937760" y="18745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1B2A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φ₀ + Σ φⱼ(x)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246888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de Shapley : contribution additive de chaque variable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et globale (moyenne des |φⱼ|)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rigoureux, plus coûteux</a:t>
            </a:r>
            <a:endParaRPr lang="en-US" sz="1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Tendances émergentes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Modèles de fondation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Grands modèles de langage, affinage, génération augmentée par récupération.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et auto-supervisé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92040" y="205740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Texte, image, son dans un même modèle.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responsable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Réglementation, audit, évaluation de la robustesse.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063240"/>
            <a:ext cx="3977640" cy="1508760"/>
          </a:xfrm>
          <a:prstGeom prst="roundRect">
            <a:avLst>
              <a:gd name="adj" fmla="val 7273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246120"/>
            <a:ext cx="457200" cy="45720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246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Frugalité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892040" y="384048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TinyML et modèles légers pour contextes à ressources limitées.</a:t>
            </a:r>
            <a:endParaRPr lang="en-US" sz="14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12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Examen final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5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supervisé  ·  Méthodes d'ensemble  ·  Applications et éthique  ·  Notions transversales</a:t>
            </a:r>
            <a:endParaRPr lang="en-US" sz="14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de synthèse : quel algorithme choisir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Choix possibles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continue ou catégorielle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ou classification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 de données, interprétabilité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régularisée, arbre peu profond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tabulaires, performance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Forêt aléatoire, boosting, stacking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Frontière non linéaire, taille modérée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à noyau RBF, k-NN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 d'étiquettes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K-means, DBSCAN, hiérarchique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Visualiser en grande dimension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ACP, t-SNE, UMAP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29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Décision sensible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 interprétable, audit d'équité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DSC 345 · Machine Learning · IPNET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0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463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qualité des données prime sur la sophistication du modèle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80160" y="2194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sur des données non vues, avec un protocole rigoureux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80160" y="2926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plusieurs modèles : il n'existe pas d'algorithme universel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3657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Expliquer, auditer et documenter chaque décision automatisée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 345 – Machine Learning</dc:title>
  <dc:subject>PptxGenJS Presentation</dc:subject>
  <dc:creator>Marc AYI AGBOLO</dc:creator>
  <cp:lastModifiedBy>Marc AYI AGBOLO</cp:lastModifiedBy>
  <cp:revision>1</cp:revision>
  <dcterms:created xsi:type="dcterms:W3CDTF">2026-10-14T09:12:38Z</dcterms:created>
  <dcterms:modified xsi:type="dcterms:W3CDTF">2026-10-14T09:12:38Z</dcterms:modified>
</cp:coreProperties>
</file>